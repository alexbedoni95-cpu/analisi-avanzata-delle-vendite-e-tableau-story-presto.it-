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Black"/>
      <p:bold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  <p:embeddedFont>
      <p:font typeface="Roboto Condensed"/>
      <p:regular r:id="rId30"/>
      <p:bold r:id="rId31"/>
      <p:italic r:id="rId32"/>
      <p:boldItalic r:id="rId33"/>
    </p:embeddedFont>
    <p:embeddedFont>
      <p:font typeface="Montserrat Light"/>
      <p:regular r:id="rId34"/>
      <p:bold r:id="rId35"/>
      <p:italic r:id="rId36"/>
      <p:boldItalic r:id="rId37"/>
    </p:embeddedFont>
    <p:embeddedFont>
      <p:font typeface="Roboto Condensed Medium"/>
      <p:regular r:id="rId38"/>
      <p:bold r:id="rId39"/>
      <p:italic r:id="rId40"/>
      <p:boldItalic r:id="rId41"/>
    </p:embeddedFont>
    <p:embeddedFont>
      <p:font typeface="Montserrat ExtraBold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CondensedMedium-italic.fntdata"/><Relationship Id="rId20" Type="http://schemas.openxmlformats.org/officeDocument/2006/relationships/font" Target="fonts/Montserrat-regular.fntdata"/><Relationship Id="rId42" Type="http://schemas.openxmlformats.org/officeDocument/2006/relationships/font" Target="fonts/MontserratExtraBold-bold.fntdata"/><Relationship Id="rId41" Type="http://schemas.openxmlformats.org/officeDocument/2006/relationships/font" Target="fonts/RobotoCondensedMedium-boldItalic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43" Type="http://schemas.openxmlformats.org/officeDocument/2006/relationships/font" Target="fonts/MontserratExtraBold-boldItalic.fntdata"/><Relationship Id="rId24" Type="http://schemas.openxmlformats.org/officeDocument/2006/relationships/font" Target="fonts/MontserratBlack-bold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Black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Condensed-bold.fntdata"/><Relationship Id="rId30" Type="http://schemas.openxmlformats.org/officeDocument/2006/relationships/font" Target="fonts/RobotoCondensed-regular.fntdata"/><Relationship Id="rId11" Type="http://schemas.openxmlformats.org/officeDocument/2006/relationships/slide" Target="slides/slide6.xml"/><Relationship Id="rId33" Type="http://schemas.openxmlformats.org/officeDocument/2006/relationships/font" Target="fonts/RobotoCondensed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Condensed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Light-bold.fntdata"/><Relationship Id="rId12" Type="http://schemas.openxmlformats.org/officeDocument/2006/relationships/slide" Target="slides/slide7.xml"/><Relationship Id="rId34" Type="http://schemas.openxmlformats.org/officeDocument/2006/relationships/font" Target="fonts/MontserratLight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Ligh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Light-italic.fntdata"/><Relationship Id="rId17" Type="http://schemas.openxmlformats.org/officeDocument/2006/relationships/font" Target="fonts/MontserratSemiBold-bold.fntdata"/><Relationship Id="rId39" Type="http://schemas.openxmlformats.org/officeDocument/2006/relationships/font" Target="fonts/RobotoCondensedMedium-bold.fntdata"/><Relationship Id="rId16" Type="http://schemas.openxmlformats.org/officeDocument/2006/relationships/font" Target="fonts/MontserratSemiBold-regular.fntdata"/><Relationship Id="rId38" Type="http://schemas.openxmlformats.org/officeDocument/2006/relationships/font" Target="fonts/RobotoCondensedMedium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7f4f99d3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7f4f99d3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7f4f99d3f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7f4f99d3f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7f4f99d3f_0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7f4f99d3f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7f4f99d3f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7f4f99d3f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7f4f99d3f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7f4f99d3f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7f4f99d3f_0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7f4f99d3f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7fc2cd96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7fc2cd96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7f4f99d3f_0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7f4f99d3f_0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7f4f99d3f_0_1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7f4f99d3f_0_1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7f4f99d3f_0_1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47f4f99d3f_0_1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 3">
  <p:cSld name="TITLE_2_5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8250" y="-75050"/>
            <a:ext cx="9200500" cy="5293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 1">
  <p:cSld name="TITLE_2_2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8000" y="-92150"/>
            <a:ext cx="9260000" cy="53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l titolo 1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650" y="-76983"/>
            <a:ext cx="9207301" cy="5297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5">
  <p:cSld name="CUSTOM_4_1_1_1_1_2_1_1_1_1_1_1_1_1_1_1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650" y="-76983"/>
            <a:ext cx="9207301" cy="5297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4">
  <p:cSld name="CUSTOM_4_1_1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/>
          <p:nvPr/>
        </p:nvSpPr>
        <p:spPr>
          <a:xfrm rot="-5400000">
            <a:off x="1987000" y="-2007650"/>
            <a:ext cx="5169000" cy="9160200"/>
          </a:xfrm>
          <a:prstGeom prst="rect">
            <a:avLst/>
          </a:prstGeom>
          <a:gradFill>
            <a:gsLst>
              <a:gs pos="0">
                <a:srgbClr val="363632"/>
              </a:gs>
              <a:gs pos="100000">
                <a:srgbClr val="1D1D1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1181550" y="1640975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63" name="Google Shape;63;p1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8000" y="-92150"/>
            <a:ext cx="9260000" cy="53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8">
  <p:cSld name="CUSTOM_4_3_1_1"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650" y="-76983"/>
            <a:ext cx="9207301" cy="5297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650" y="-76983"/>
            <a:ext cx="9207301" cy="5297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l titolo 2">
  <p:cSld name="TITLE_4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1650" y="-76983"/>
            <a:ext cx="9207301" cy="5297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2002025" y="1632913"/>
            <a:ext cx="5052300" cy="11232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3344">
                <a:solidFill>
                  <a:srgbClr val="FFED00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Progetto </a:t>
            </a:r>
            <a:r>
              <a:rPr b="1" lang="it" sz="3344">
                <a:solidFill>
                  <a:srgbClr val="FFED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Tools</a:t>
            </a:r>
            <a:endParaRPr sz="3900"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555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BI</a:t>
            </a:r>
            <a:r>
              <a:rPr lang="it" sz="5555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Analyst</a:t>
            </a:r>
            <a:endParaRPr sz="5555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555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@ Presto.it</a:t>
            </a:r>
            <a:endParaRPr sz="4455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6" name="Google Shape;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1950" y="4430151"/>
            <a:ext cx="397649" cy="4246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21"/>
          <p:cNvCxnSpPr/>
          <p:nvPr/>
        </p:nvCxnSpPr>
        <p:spPr>
          <a:xfrm>
            <a:off x="2041075" y="3365725"/>
            <a:ext cx="4947300" cy="0"/>
          </a:xfrm>
          <a:prstGeom prst="straightConnector1">
            <a:avLst/>
          </a:prstGeom>
          <a:noFill/>
          <a:ln cap="flat" cmpd="sng" w="9525">
            <a:solidFill>
              <a:srgbClr val="FFED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7600" y="2507850"/>
            <a:ext cx="2929100" cy="17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525" y="2507850"/>
            <a:ext cx="3079726" cy="17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2"/>
          <p:cNvSpPr txBox="1"/>
          <p:nvPr>
            <p:ph idx="1" type="subTitle"/>
          </p:nvPr>
        </p:nvSpPr>
        <p:spPr>
          <a:xfrm>
            <a:off x="355525" y="1075350"/>
            <a:ext cx="61512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Presto.it</a:t>
            </a: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è una piattaforma di e-commerce all'avanguardia nel settore retail, rinomata per l'</a:t>
            </a:r>
            <a:r>
              <a:rPr b="1" lang="it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ampia selezione di prodotti</a:t>
            </a:r>
            <a:endParaRPr b="1"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disponibili a catalogo.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5" name="Google Shape;85;p22"/>
          <p:cNvSpPr txBox="1"/>
          <p:nvPr/>
        </p:nvSpPr>
        <p:spPr>
          <a:xfrm>
            <a:off x="245226" y="511275"/>
            <a:ext cx="84066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it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Cos'è Presto.it</a:t>
            </a:r>
            <a:endParaRPr sz="2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6" name="Google Shape;86;p22"/>
          <p:cNvSpPr txBox="1"/>
          <p:nvPr>
            <p:ph idx="1" type="subTitle"/>
          </p:nvPr>
        </p:nvSpPr>
        <p:spPr>
          <a:xfrm>
            <a:off x="355533" y="352581"/>
            <a:ext cx="5609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rgbClr val="FFED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IL PROGETTO INTERMEDIO</a:t>
            </a:r>
            <a:endParaRPr sz="1200">
              <a:solidFill>
                <a:srgbClr val="FFED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7" name="Google Shape;87;p22"/>
          <p:cNvSpPr txBox="1"/>
          <p:nvPr/>
        </p:nvSpPr>
        <p:spPr>
          <a:xfrm>
            <a:off x="548450" y="2689395"/>
            <a:ext cx="2713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Attiva sul mercato nazionale dal 2014, con sede a </a:t>
            </a:r>
            <a:r>
              <a:rPr b="1" lang="it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Ferrara</a:t>
            </a: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/>
          </a:p>
        </p:txBody>
      </p:sp>
      <p:pic>
        <p:nvPicPr>
          <p:cNvPr id="88" name="Google Shape;8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1950" y="4430151"/>
            <a:ext cx="397649" cy="42460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2"/>
          <p:cNvSpPr txBox="1"/>
          <p:nvPr/>
        </p:nvSpPr>
        <p:spPr>
          <a:xfrm>
            <a:off x="3792000" y="2676325"/>
            <a:ext cx="22881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Negli anni, ha espanso sempre di più la sua rete commerciale fino a coprire tutto lo stivale.</a:t>
            </a:r>
            <a:endParaRPr b="1"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4227" y="757078"/>
            <a:ext cx="1930425" cy="2402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4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idx="1" type="subTitle"/>
          </p:nvPr>
        </p:nvSpPr>
        <p:spPr>
          <a:xfrm>
            <a:off x="355525" y="1075350"/>
            <a:ext cx="5531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Il management centrale ha notato alcune </a:t>
            </a:r>
            <a:r>
              <a:rPr b="1"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fluttuazioni nelle vendite</a:t>
            </a:r>
            <a:r>
              <a:rPr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 ha richiesto di condurre un'analisi approfondita dei </a:t>
            </a:r>
            <a:r>
              <a:rPr b="1"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dati di vendita </a:t>
            </a:r>
            <a:r>
              <a:rPr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dell'azienda.</a:t>
            </a:r>
            <a:endParaRPr sz="1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quanto analisti, il vostro obiettivo è </a:t>
            </a:r>
            <a:r>
              <a:rPr b="1"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fornire insights </a:t>
            </a:r>
            <a:r>
              <a:rPr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 aiutino la direzione a </a:t>
            </a:r>
            <a:r>
              <a:rPr b="1"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comprendere le prestazioni </a:t>
            </a:r>
            <a:r>
              <a:rPr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delle vendite, a </a:t>
            </a:r>
            <a:r>
              <a:rPr b="1"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identificare le tendenze</a:t>
            </a:r>
            <a:r>
              <a:rPr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 a </a:t>
            </a:r>
            <a:r>
              <a:rPr b="1"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prendere decisioni </a:t>
            </a:r>
            <a:r>
              <a:rPr lang="it" sz="1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informate per aumentare la redditività.</a:t>
            </a:r>
            <a:endParaRPr sz="1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23"/>
          <p:cNvSpPr txBox="1"/>
          <p:nvPr/>
        </p:nvSpPr>
        <p:spPr>
          <a:xfrm>
            <a:off x="245218" y="511264"/>
            <a:ext cx="75819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it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Lo scenario</a:t>
            </a:r>
            <a:endParaRPr sz="25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7" name="Google Shape;97;p23"/>
          <p:cNvSpPr txBox="1"/>
          <p:nvPr>
            <p:ph idx="1" type="subTitle"/>
          </p:nvPr>
        </p:nvSpPr>
        <p:spPr>
          <a:xfrm>
            <a:off x="355533" y="352581"/>
            <a:ext cx="5609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rgbClr val="FFED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IL PROGETTO INTERMEDIO</a:t>
            </a:r>
            <a:endParaRPr sz="1200">
              <a:solidFill>
                <a:srgbClr val="FFED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98" name="Google Shape;9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1950" y="4430151"/>
            <a:ext cx="397649" cy="424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81" y="2606745"/>
            <a:ext cx="21050" cy="3136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1950" y="4430151"/>
            <a:ext cx="397649" cy="4246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4"/>
          <p:cNvSpPr txBox="1"/>
          <p:nvPr/>
        </p:nvSpPr>
        <p:spPr>
          <a:xfrm>
            <a:off x="245227" y="511275"/>
            <a:ext cx="4752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it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 ruoli: Aulab</a:t>
            </a:r>
            <a:endParaRPr i="0" sz="25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6" name="Google Shape;106;p24"/>
          <p:cNvSpPr txBox="1"/>
          <p:nvPr>
            <p:ph idx="4294967295" type="subTitle"/>
          </p:nvPr>
        </p:nvSpPr>
        <p:spPr>
          <a:xfrm>
            <a:off x="355525" y="1076475"/>
            <a:ext cx="80661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Aulab</a:t>
            </a: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sarà il </a:t>
            </a:r>
            <a:r>
              <a:rPr b="1" lang="it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Owner </a:t>
            </a: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 questa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operazione d'analisi.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7" name="Google Shape;107;p24"/>
          <p:cNvSpPr txBox="1"/>
          <p:nvPr/>
        </p:nvSpPr>
        <p:spPr>
          <a:xfrm>
            <a:off x="692318" y="2429607"/>
            <a:ext cx="55635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E' il principale punto di contatto tra il team di analisti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 tutti gli stakeholders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Collaborando con il Team, si assicura di far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emergere gli insights con il più alto valore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possibile entro la deadline indicata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08" name="Google Shape;108;p24"/>
          <p:cNvSpPr txBox="1"/>
          <p:nvPr>
            <p:ph idx="4294967295" type="subTitle"/>
          </p:nvPr>
        </p:nvSpPr>
        <p:spPr>
          <a:xfrm>
            <a:off x="355517" y="352575"/>
            <a:ext cx="40740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rgbClr val="FFED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IL PROGETTO INTERMEDIO</a:t>
            </a:r>
            <a:endParaRPr sz="1200">
              <a:solidFill>
                <a:srgbClr val="FFED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9" name="Google Shape;109;p24"/>
          <p:cNvSpPr txBox="1"/>
          <p:nvPr>
            <p:ph idx="4294967295" type="subTitle"/>
          </p:nvPr>
        </p:nvSpPr>
        <p:spPr>
          <a:xfrm>
            <a:off x="379308" y="1697010"/>
            <a:ext cx="5609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rgbClr val="FFED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 OCCUPA DI</a:t>
            </a:r>
            <a:r>
              <a:rPr lang="it" sz="1200">
                <a:solidFill>
                  <a:srgbClr val="FFED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</a:t>
            </a:r>
            <a:endParaRPr sz="1200">
              <a:solidFill>
                <a:srgbClr val="FFED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10" name="Google Shape;11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800" y="2571750"/>
            <a:ext cx="124026" cy="111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800" y="3128288"/>
            <a:ext cx="124026" cy="111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4" title="0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482973" y="-360688"/>
            <a:ext cx="4319650" cy="63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1950" y="4430151"/>
            <a:ext cx="397649" cy="42460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5"/>
          <p:cNvSpPr txBox="1"/>
          <p:nvPr/>
        </p:nvSpPr>
        <p:spPr>
          <a:xfrm>
            <a:off x="245218" y="511264"/>
            <a:ext cx="75819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it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 ruoli: il Team di Analisti</a:t>
            </a:r>
            <a:endParaRPr i="0" sz="25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9" name="Google Shape;119;p25"/>
          <p:cNvSpPr txBox="1"/>
          <p:nvPr>
            <p:ph idx="1" type="subTitle"/>
          </p:nvPr>
        </p:nvSpPr>
        <p:spPr>
          <a:xfrm>
            <a:off x="355533" y="352581"/>
            <a:ext cx="5609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rgbClr val="FFED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IL PROGETTO INTERMEDIO</a:t>
            </a:r>
            <a:endParaRPr sz="1200">
              <a:solidFill>
                <a:srgbClr val="FFED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" name="Google Shape;120;p25"/>
          <p:cNvSpPr txBox="1"/>
          <p:nvPr/>
        </p:nvSpPr>
        <p:spPr>
          <a:xfrm>
            <a:off x="245225" y="-77125"/>
            <a:ext cx="8634600" cy="53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it" sz="6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VOI</a:t>
            </a:r>
            <a:endParaRPr sz="6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/>
          <p:nvPr/>
        </p:nvSpPr>
        <p:spPr>
          <a:xfrm>
            <a:off x="245218" y="511264"/>
            <a:ext cx="75819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it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Le fasi dell'analisi</a:t>
            </a:r>
            <a:endParaRPr i="0" sz="25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6" name="Google Shape;126;p26"/>
          <p:cNvSpPr txBox="1"/>
          <p:nvPr>
            <p:ph idx="4294967295" type="subTitle"/>
          </p:nvPr>
        </p:nvSpPr>
        <p:spPr>
          <a:xfrm>
            <a:off x="355533" y="352581"/>
            <a:ext cx="5609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rgbClr val="FFED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IL PROGETTO INTERMEDIO</a:t>
            </a:r>
            <a:endParaRPr sz="1200">
              <a:solidFill>
                <a:srgbClr val="FFED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7" name="Google Shape;127;p26"/>
          <p:cNvSpPr txBox="1"/>
          <p:nvPr>
            <p:ph idx="4294967295" type="subTitle"/>
          </p:nvPr>
        </p:nvSpPr>
        <p:spPr>
          <a:xfrm>
            <a:off x="355525" y="1076475"/>
            <a:ext cx="81264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Il percorso di analisi è diviso in tre parti: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8" name="Google Shape;128;p26"/>
          <p:cNvGrpSpPr/>
          <p:nvPr/>
        </p:nvGrpSpPr>
        <p:grpSpPr>
          <a:xfrm>
            <a:off x="-49350" y="1477320"/>
            <a:ext cx="3340950" cy="2999614"/>
            <a:chOff x="-49350" y="1477320"/>
            <a:chExt cx="3340950" cy="2999614"/>
          </a:xfrm>
        </p:grpSpPr>
        <p:pic>
          <p:nvPicPr>
            <p:cNvPr id="129" name="Google Shape;12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49350" y="1477320"/>
              <a:ext cx="3340950" cy="29996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26"/>
            <p:cNvSpPr txBox="1"/>
            <p:nvPr/>
          </p:nvSpPr>
          <p:spPr>
            <a:xfrm>
              <a:off x="461961" y="1954733"/>
              <a:ext cx="17814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0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it">
                  <a:solidFill>
                    <a:srgbClr val="FFED00"/>
                  </a:solidFill>
                  <a:latin typeface="Roboto Condensed Medium"/>
                  <a:ea typeface="Roboto Condensed Medium"/>
                  <a:cs typeface="Roboto Condensed Medium"/>
                  <a:sym typeface="Roboto Condensed Medium"/>
                </a:rPr>
                <a:t>Visualizzazioni</a:t>
              </a:r>
              <a:endParaRPr i="0" u="none" cap="none" strike="noStrike">
                <a:solidFill>
                  <a:srgbClr val="FEED4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endParaRPr>
            </a:p>
          </p:txBody>
        </p:sp>
        <p:sp>
          <p:nvSpPr>
            <p:cNvPr id="131" name="Google Shape;131;p26"/>
            <p:cNvSpPr txBox="1"/>
            <p:nvPr/>
          </p:nvSpPr>
          <p:spPr>
            <a:xfrm>
              <a:off x="461950" y="2333333"/>
              <a:ext cx="2248200" cy="159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0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it" sz="12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Crea grafici interattivi e intuitivi per identificare schemi, anomalie e relazioni nei dati aziendali.</a:t>
              </a:r>
              <a:endPara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32" name="Google Shape;132;p26"/>
          <p:cNvGrpSpPr/>
          <p:nvPr/>
        </p:nvGrpSpPr>
        <p:grpSpPr>
          <a:xfrm>
            <a:off x="2712974" y="1497082"/>
            <a:ext cx="3340950" cy="2999614"/>
            <a:chOff x="2672350" y="1497082"/>
            <a:chExt cx="3340950" cy="2999614"/>
          </a:xfrm>
        </p:grpSpPr>
        <p:pic>
          <p:nvPicPr>
            <p:cNvPr id="133" name="Google Shape;133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72350" y="1497082"/>
              <a:ext cx="3340950" cy="29996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26"/>
            <p:cNvSpPr txBox="1"/>
            <p:nvPr/>
          </p:nvSpPr>
          <p:spPr>
            <a:xfrm>
              <a:off x="3185327" y="1954725"/>
              <a:ext cx="21528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0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rgbClr val="FFED00"/>
                  </a:solidFill>
                  <a:latin typeface="Roboto Condensed Medium"/>
                  <a:ea typeface="Roboto Condensed Medium"/>
                  <a:cs typeface="Roboto Condensed Medium"/>
                  <a:sym typeface="Roboto Condensed Medium"/>
                </a:rPr>
                <a:t>Dashboards</a:t>
              </a:r>
              <a:endParaRPr i="0" u="none" cap="none" strike="noStrike">
                <a:solidFill>
                  <a:srgbClr val="FFED00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endParaRPr>
            </a:p>
          </p:txBody>
        </p:sp>
        <p:sp>
          <p:nvSpPr>
            <p:cNvPr id="135" name="Google Shape;135;p26"/>
            <p:cNvSpPr txBox="1"/>
            <p:nvPr/>
          </p:nvSpPr>
          <p:spPr>
            <a:xfrm>
              <a:off x="3160231" y="2333333"/>
              <a:ext cx="2248200" cy="12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0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it" sz="12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Costruisci dashboard dinamiche che combinano metriche e visualizzazioni, offrendo un quadro completo e sintetico delle performance attuali.</a:t>
              </a:r>
              <a:endPara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136" name="Google Shape;13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81950" y="4430151"/>
            <a:ext cx="397649" cy="4246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26"/>
          <p:cNvGrpSpPr/>
          <p:nvPr/>
        </p:nvGrpSpPr>
        <p:grpSpPr>
          <a:xfrm>
            <a:off x="5475298" y="1477320"/>
            <a:ext cx="3340950" cy="2999614"/>
            <a:chOff x="5387600" y="1477320"/>
            <a:chExt cx="3340950" cy="2999614"/>
          </a:xfrm>
        </p:grpSpPr>
        <p:pic>
          <p:nvPicPr>
            <p:cNvPr id="138" name="Google Shape;138;p2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387600" y="1477320"/>
              <a:ext cx="3340950" cy="29996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26"/>
            <p:cNvSpPr txBox="1"/>
            <p:nvPr/>
          </p:nvSpPr>
          <p:spPr>
            <a:xfrm>
              <a:off x="5889278" y="1954725"/>
              <a:ext cx="1726200" cy="3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0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rgbClr val="FFED00"/>
                  </a:solidFill>
                  <a:latin typeface="Roboto Condensed Medium"/>
                  <a:ea typeface="Roboto Condensed Medium"/>
                  <a:cs typeface="Roboto Condensed Medium"/>
                  <a:sym typeface="Roboto Condensed Medium"/>
                </a:rPr>
                <a:t>Tableau Story</a:t>
              </a:r>
              <a:endParaRPr i="0" u="none" cap="none" strike="noStrike">
                <a:solidFill>
                  <a:srgbClr val="FFED00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endParaRPr>
            </a:p>
          </p:txBody>
        </p:sp>
        <p:sp>
          <p:nvSpPr>
            <p:cNvPr id="140" name="Google Shape;140;p26"/>
            <p:cNvSpPr txBox="1"/>
            <p:nvPr/>
          </p:nvSpPr>
          <p:spPr>
            <a:xfrm>
              <a:off x="5889275" y="2333333"/>
              <a:ext cx="2248200" cy="12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0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it" sz="12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Sviluppa una Tableau Story per raccontare l'evoluzione dei dati e guidare gli stakeholders attraverso insight significativi, facilitando la comprensione dei dati.</a:t>
              </a:r>
              <a:endParaRPr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1950" y="4430151"/>
            <a:ext cx="397649" cy="42460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/>
          <p:nvPr/>
        </p:nvSpPr>
        <p:spPr>
          <a:xfrm>
            <a:off x="245218" y="511264"/>
            <a:ext cx="75819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it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Le richieste</a:t>
            </a:r>
            <a:r>
              <a:rPr lang="it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i="0" sz="25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7" name="Google Shape;147;p27"/>
          <p:cNvSpPr txBox="1"/>
          <p:nvPr>
            <p:ph idx="1" type="subTitle"/>
          </p:nvPr>
        </p:nvSpPr>
        <p:spPr>
          <a:xfrm>
            <a:off x="355533" y="352581"/>
            <a:ext cx="5609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rgbClr val="FFED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IL PROGETTO INTERMEDIO</a:t>
            </a:r>
            <a:endParaRPr sz="1200">
              <a:solidFill>
                <a:srgbClr val="FFED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625" y="1789044"/>
            <a:ext cx="40400" cy="4596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 txBox="1"/>
          <p:nvPr/>
        </p:nvSpPr>
        <p:spPr>
          <a:xfrm>
            <a:off x="684100" y="1585275"/>
            <a:ext cx="43611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Analisi del </a:t>
            </a:r>
            <a:r>
              <a:rPr b="1" lang="it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fatturato nel tempo</a:t>
            </a: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;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Analisi del </a:t>
            </a:r>
            <a:r>
              <a:rPr b="1" lang="it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fatturato per segmenti </a:t>
            </a: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(clientela, spedizioni, categorie);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Analisi di </a:t>
            </a:r>
            <a:r>
              <a:rPr b="1" lang="it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clienti alto spendenti</a:t>
            </a: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;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Fatturato per </a:t>
            </a:r>
            <a:r>
              <a:rPr b="1" lang="it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zone geografiche</a:t>
            </a: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;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Top N di </a:t>
            </a:r>
            <a:r>
              <a:rPr b="1" lang="it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prodotti per fatturato</a:t>
            </a: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293" y="1684326"/>
            <a:ext cx="205051" cy="20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293" y="2179447"/>
            <a:ext cx="205051" cy="20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293" y="4389817"/>
            <a:ext cx="205051" cy="20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293" y="2936926"/>
            <a:ext cx="205051" cy="20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293" y="3660651"/>
            <a:ext cx="205051" cy="20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 txBox="1"/>
          <p:nvPr/>
        </p:nvSpPr>
        <p:spPr>
          <a:xfrm>
            <a:off x="308250" y="1042000"/>
            <a:ext cx="705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Il Management di Presto.it ha richiesto le seguenti analisi: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6" name="Google Shape;156;p27" title="0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4750" y="-308550"/>
            <a:ext cx="4256375" cy="7576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245218" y="511264"/>
            <a:ext cx="75819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it" sz="2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Output richiesto</a:t>
            </a:r>
            <a:endParaRPr i="0" sz="25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2" name="Google Shape;162;p28"/>
          <p:cNvSpPr txBox="1"/>
          <p:nvPr>
            <p:ph idx="4294967295" type="subTitle"/>
          </p:nvPr>
        </p:nvSpPr>
        <p:spPr>
          <a:xfrm>
            <a:off x="355533" y="352581"/>
            <a:ext cx="5609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rgbClr val="FFED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IL PROGETTO FINALE</a:t>
            </a:r>
            <a:endParaRPr sz="1200">
              <a:solidFill>
                <a:srgbClr val="FFED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3" name="Google Shape;163;p28"/>
          <p:cNvSpPr txBox="1"/>
          <p:nvPr>
            <p:ph idx="4294967295" type="subTitle"/>
          </p:nvPr>
        </p:nvSpPr>
        <p:spPr>
          <a:xfrm>
            <a:off x="355525" y="1439538"/>
            <a:ext cx="39474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 termine di queste analisi è necessario produrre due dashboards: una </a:t>
            </a:r>
            <a:r>
              <a:rPr b="1" lang="it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dashboard di Analisi delle Vendite </a:t>
            </a: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 una di </a:t>
            </a:r>
            <a:r>
              <a:rPr b="1" lang="it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Analisi Geografica</a:t>
            </a: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Il management ha inoltre richiesto la produzione di una </a:t>
            </a:r>
            <a:r>
              <a:rPr b="1" lang="it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Tableau Story </a:t>
            </a: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 evidenzi i passaggi cruciali delle analisi di vendita, accompagnata da una raccolta degli </a:t>
            </a:r>
            <a:r>
              <a:rPr b="1" lang="it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insights più significativi</a:t>
            </a:r>
            <a:r>
              <a:rPr lang="it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it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presentazione non deve durare più di 5 minuti a testa.</a:t>
            </a:r>
            <a:endParaRPr b="1"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1950" y="4430151"/>
            <a:ext cx="397649" cy="424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 rotWithShape="1">
          <a:blip r:embed="rId4">
            <a:alphaModFix/>
          </a:blip>
          <a:srcRect b="16107" l="0" r="0" t="13736"/>
          <a:stretch/>
        </p:blipFill>
        <p:spPr>
          <a:xfrm>
            <a:off x="4351475" y="1050687"/>
            <a:ext cx="4310350" cy="3023949"/>
          </a:xfrm>
          <a:prstGeom prst="rect">
            <a:avLst/>
          </a:prstGeom>
          <a:noFill/>
          <a:ln>
            <a:noFill/>
          </a:ln>
          <a:effectLst>
            <a:outerShdw blurRad="328613" rotWithShape="0" algn="bl">
              <a:srgbClr val="000000">
                <a:alpha val="24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62375" y="1632925"/>
            <a:ext cx="8119500" cy="11232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5455">
                <a:solidFill>
                  <a:srgbClr val="FFED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"</a:t>
            </a:r>
            <a:r>
              <a:rPr lang="it" sz="5455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Il costo di cattivi dati è l'</a:t>
            </a:r>
            <a:r>
              <a:rPr i="1" lang="it" sz="5455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illusione della conoscenza</a:t>
            </a:r>
            <a:r>
              <a:rPr lang="it" sz="5455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r>
              <a:rPr lang="it" sz="5455">
                <a:solidFill>
                  <a:srgbClr val="FFED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"</a:t>
            </a:r>
            <a:endParaRPr sz="5455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1950" y="4430151"/>
            <a:ext cx="397649" cy="42460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/>
        </p:nvSpPr>
        <p:spPr>
          <a:xfrm>
            <a:off x="3744300" y="4245950"/>
            <a:ext cx="42837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00">
                <a:solidFill>
                  <a:srgbClr val="FFED00"/>
                </a:solidFill>
                <a:latin typeface="Montserrat"/>
                <a:ea typeface="Montserrat"/>
                <a:cs typeface="Montserrat"/>
                <a:sym typeface="Montserrat"/>
              </a:rPr>
              <a:t>Taiichi Ohno</a:t>
            </a:r>
            <a:endParaRPr b="1" sz="900">
              <a:solidFill>
                <a:srgbClr val="FFED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900">
                <a:solidFill>
                  <a:srgbClr val="FFED00"/>
                </a:solidFill>
                <a:latin typeface="Montserrat"/>
                <a:ea typeface="Montserrat"/>
                <a:cs typeface="Montserrat"/>
                <a:sym typeface="Montserrat"/>
              </a:rPr>
              <a:t>Father of the Toyota Production System</a:t>
            </a:r>
            <a:endParaRPr i="1" sz="900">
              <a:solidFill>
                <a:srgbClr val="FFED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3" name="Google Shape;173;p29" title="Neutral Modern Fashion Blogger Avat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0600" y="3061975"/>
            <a:ext cx="1250775" cy="125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5213" y="1238862"/>
            <a:ext cx="1818749" cy="68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/>
        </p:nvSpPr>
        <p:spPr>
          <a:xfrm>
            <a:off x="1710288" y="2766526"/>
            <a:ext cx="566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aulab.it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0" name="Google Shape;180;p30"/>
          <p:cNvSpPr txBox="1"/>
          <p:nvPr>
            <p:ph idx="1" type="subTitle"/>
          </p:nvPr>
        </p:nvSpPr>
        <p:spPr>
          <a:xfrm>
            <a:off x="1824604" y="2032733"/>
            <a:ext cx="56091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rgbClr val="FFED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NUMERO VERDE: </a:t>
            </a:r>
            <a:r>
              <a:rPr lang="it" sz="12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800 128 626</a:t>
            </a:r>
            <a:endParaRPr sz="12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2248" y="2497247"/>
            <a:ext cx="195172" cy="19516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 txBox="1"/>
          <p:nvPr/>
        </p:nvSpPr>
        <p:spPr>
          <a:xfrm>
            <a:off x="2416984" y="2448888"/>
            <a:ext cx="89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@aulab_it</a:t>
            </a:r>
            <a:endParaRPr sz="1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0385" y="2490013"/>
            <a:ext cx="183785" cy="20962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>
            <a:off x="3755841" y="2448875"/>
            <a:ext cx="80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@aulab.it</a:t>
            </a:r>
            <a:endParaRPr sz="1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5" name="Google Shape;18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9248" y="2490015"/>
            <a:ext cx="211088" cy="20962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0"/>
          <p:cNvSpPr txBox="1"/>
          <p:nvPr/>
        </p:nvSpPr>
        <p:spPr>
          <a:xfrm>
            <a:off x="5113201" y="2448875"/>
            <a:ext cx="80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@aulab</a:t>
            </a:r>
            <a:endParaRPr sz="1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16602" y="2490015"/>
            <a:ext cx="209637" cy="20962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0"/>
          <p:cNvSpPr txBox="1"/>
          <p:nvPr/>
        </p:nvSpPr>
        <p:spPr>
          <a:xfrm>
            <a:off x="6470760" y="2448875"/>
            <a:ext cx="80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@aulab</a:t>
            </a:r>
            <a:endParaRPr sz="1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1740600" y="3490228"/>
            <a:ext cx="566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FFED00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Proudly part of</a:t>
            </a:r>
            <a:endParaRPr>
              <a:solidFill>
                <a:srgbClr val="FFED00"/>
              </a:solidFill>
              <a:latin typeface="Roboto Condensed Medium"/>
              <a:ea typeface="Roboto Condensed Medium"/>
              <a:cs typeface="Roboto Condensed Medium"/>
              <a:sym typeface="Roboto Condensed Medium"/>
            </a:endParaRPr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34825" y="3890436"/>
            <a:ext cx="6474348" cy="961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